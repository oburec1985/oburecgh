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5715000" type="screen16x10"/>
  <p:notesSz cx="6858000" cy="9144000"/>
  <p:defaultTextStyle>
    <a:defPPr>
      <a:defRPr lang="ru-RU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958DB4-25CD-45D8-8942-2CCF931BC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760168-53AD-4F9F-9CF8-C60B5DD66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4C3AC9-0051-4800-9A5D-163FA7F2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088C36-E01A-4772-ABFF-E3453EF3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E6E374-A94F-47F8-95F7-493EFDE3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550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A60C6-E454-4E67-BE76-97E3B0A1D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1AFAA3-2EFE-4C30-8B51-589A55076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E4697D-DC07-4C73-8DE1-F9ACEA76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6A3C5B-F224-42DF-801F-17B703D9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DBBA57-6C15-4F29-9160-EC61F6B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39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4501D-5082-47B2-8F74-104D26B5A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7D4407-4BB4-42EC-BE7F-E70F4D570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872D57-A3B1-41A9-BD88-B7CA02D6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819FCB-EB10-48C4-8F8E-6DD4CB68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F464E3-A433-44EC-A989-127CCEB6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79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00C65-8B61-4989-ABA3-A9CD15EF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44C993-EB58-4814-8CF3-F091416E3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665D0F-BE71-4E22-BB1A-687C6DDDC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E69439-85A6-4570-8FE7-ECA0BF53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4AC24F-D6B1-4648-A498-6DBD20F75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E2D7B3-5A49-4F1D-9922-933C69E5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802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1ADB0-12A5-48FA-983D-628DB7EE5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FC81C8-80E0-4477-A649-52BFA5A23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B66643-9362-41FB-8354-2F9638EF9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E94FBF-FFBD-4023-9049-7CFCB365F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726697-6729-4CD7-A991-D7E970B9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482222-062A-4E64-A1A7-8A069643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FC9781F-A806-421B-B6B7-8D5C1053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AE2EE8E-3F7B-42BB-B8D9-A364F470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78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BA58B-4B44-43D8-83F9-FB25353A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239E99D-43EC-47C0-AF6B-89364B07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11B937-2911-41F1-988A-039748FA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5E4835-1CC8-475B-B914-520B58E9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416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B947282-99ED-4E12-8B1E-605A52D00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783826-7A54-4923-9EE2-2E6AEE51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2E2BA1-A37F-4144-8449-6EE973E23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792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D04C4-7A25-4706-BAC0-530C7CCE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B2D6C0-C39D-436A-BBA0-4FFB2987A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4C114-C521-47AA-8B33-565D41DFA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F8280A-A32F-4883-A069-8647CE47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FE6B93-7398-47EA-85BC-17AAC987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A47CD2-B667-4535-85BF-B389DEC4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45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93E4F-EB1F-4731-86D2-8E0C02D5B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B64C4C-EFD8-49EB-9DE5-C250E342A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BF0B58-52DD-4EB7-B1C8-666B249FA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F1FE7C-DF8C-4387-8DCC-C381C56C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18FE51-1079-474D-8171-9E6316E8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DF0FF7-136D-4CF3-878B-7E20F306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91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80E81-0E6A-44C5-8060-8E560C15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8AB69-F906-458C-91BD-9FF622B34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DFD079-9649-4B49-938B-F2058CB6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7E9F81-18CA-446A-89A4-495C6387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E46590-03E1-44E1-8093-5DC8470A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83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8DC5FEB-5EAA-4479-8C3B-D2524DA81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00665F-DE5C-4CC5-A3E8-697E4485C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73207B-5C7E-450F-8231-9753836E5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09B21B-A272-4CD6-8F85-B3347165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E38364-1D75-4D16-BF83-316335FF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95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8B52B-99DF-4163-82E1-14C727AFE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BF5AAC-B540-45AA-9F5C-1BB1C47C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4B2C3A-DDA8-40A8-AC33-81FEE811C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00459-0019-4197-B4AE-E317B98FA089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80945F-E51B-4E3B-AD35-1A482AA22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D2FA10-701D-4FE5-B5EB-38D0DF9E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27B2B-2C4B-4990-9016-E2A234FFA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651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3D82A1-8435-4703-8D44-FEF44FA32B48}"/>
              </a:ext>
            </a:extLst>
          </p:cNvPr>
          <p:cNvSpPr txBox="1"/>
          <p:nvPr/>
        </p:nvSpPr>
        <p:spPr>
          <a:xfrm>
            <a:off x="177181" y="214614"/>
            <a:ext cx="1244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 dirty="0">
                <a:solidFill>
                  <a:srgbClr val="FFFFFF"/>
                </a:solidFill>
                <a:latin typeface="Aptos Display"/>
              </a:rPr>
              <a:t>Как писался компонент управления ЦАП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2917D-547F-47ED-9A35-CF2F3FA979E8}"/>
              </a:ext>
            </a:extLst>
          </p:cNvPr>
          <p:cNvSpPr txBox="1"/>
          <p:nvPr/>
        </p:nvSpPr>
        <p:spPr>
          <a:xfrm>
            <a:off x="253381" y="1191065"/>
            <a:ext cx="6604000" cy="882293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ru-RU" sz="2200" dirty="0">
                <a:solidFill>
                  <a:srgbClr val="C8D6E6"/>
                </a:solidFill>
                <a:latin typeface="Aptos"/>
              </a:rPr>
              <a:t>Инженерная презентация
</a:t>
            </a:r>
            <a:r>
              <a:rPr lang="en-US" sz="2200" dirty="0">
                <a:solidFill>
                  <a:srgbClr val="C8D6E6"/>
                </a:solidFill>
                <a:latin typeface="Aptos"/>
              </a:rPr>
              <a:t>Delphi 2010 • tests\</a:t>
            </a:r>
            <a:r>
              <a:rPr lang="en-US" sz="2200" dirty="0" err="1">
                <a:solidFill>
                  <a:srgbClr val="C8D6E6"/>
                </a:solidFill>
                <a:latin typeface="Aptos"/>
              </a:rPr>
              <a:t>TestDAC</a:t>
            </a:r>
            <a:r>
              <a:rPr lang="en-US" sz="2200" dirty="0">
                <a:solidFill>
                  <a:srgbClr val="C8D6E6"/>
                </a:solidFill>
                <a:latin typeface="Aptos"/>
              </a:rPr>
              <a:t> • </a:t>
            </a:r>
            <a:r>
              <a:rPr lang="en-US" sz="2200" dirty="0" err="1">
                <a:solidFill>
                  <a:srgbClr val="C8D6E6"/>
                </a:solidFill>
                <a:latin typeface="Aptos"/>
              </a:rPr>
              <a:t>plgControlCyclogram</a:t>
            </a:r>
            <a:endParaRPr lang="ru-RU" sz="2200" dirty="0">
              <a:solidFill>
                <a:srgbClr val="C8D6E6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5AC1D-2279-41A5-B18A-324AB5C2E7A4}"/>
              </a:ext>
            </a:extLst>
          </p:cNvPr>
          <p:cNvSpPr txBox="1"/>
          <p:nvPr/>
        </p:nvSpPr>
        <p:spPr>
          <a:xfrm>
            <a:off x="357459" y="2073358"/>
            <a:ext cx="6146800" cy="1036181"/>
          </a:xfrm>
          <a:prstGeom prst="rect">
            <a:avLst/>
          </a:prstGeom>
          <a:solidFill>
            <a:srgbClr val="C57529"/>
          </a:solidFill>
        </p:spPr>
        <p:txBody>
          <a:bodyPr vert="horz" wrap="square" lIns="177800" tIns="177800" rIns="177800" bIns="177800" rtlCol="0">
            <a:spAutoFit/>
          </a:bodyPr>
          <a:lstStyle/>
          <a:p>
            <a:r>
              <a:rPr lang="ru-RU" sz="2200" dirty="0">
                <a:solidFill>
                  <a:srgbClr val="FFFFFF"/>
                </a:solidFill>
                <a:latin typeface="Georgia" panose="02040502050405020303" pitchFamily="18" charset="0"/>
              </a:rPr>
              <a:t>"Сначала хотели просто завести DAC, а завели архитектурный разговор."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0B5C20-A301-4167-A714-6E83977E49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59" y="3198705"/>
            <a:ext cx="4817946" cy="2441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E19F49-E9DA-489A-9111-09CE37FC51BC}"/>
              </a:ext>
            </a:extLst>
          </p:cNvPr>
          <p:cNvSpPr txBox="1"/>
          <p:nvPr/>
        </p:nvSpPr>
        <p:spPr>
          <a:xfrm>
            <a:off x="736600" y="5969000"/>
            <a:ext cx="9144000" cy="421269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ru-RU" sz="1400">
                <a:solidFill>
                  <a:srgbClr val="B4BEC8"/>
                </a:solidFill>
                <a:latin typeface="Aptos"/>
              </a:rPr>
              <a:t>Авторские ремарки на слайдах — не исторические цитаты, а инженерный фольклор по мотивам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88702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8F89B-C85A-49D6-8659-C4F098D90447}"/>
              </a:ext>
            </a:extLst>
          </p:cNvPr>
          <p:cNvSpPr txBox="1"/>
          <p:nvPr/>
        </p:nvSpPr>
        <p:spPr>
          <a:xfrm>
            <a:off x="508000" y="304800"/>
            <a:ext cx="149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142542"/>
                </a:solidFill>
                <a:latin typeface="Aptos Display"/>
              </a:rPr>
              <a:t>1. Как была поставлена задача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56AE5-EC32-41B8-AFDB-7A1CD6E7C449}"/>
              </a:ext>
            </a:extLst>
          </p:cNvPr>
          <p:cNvSpPr txBox="1"/>
          <p:nvPr/>
        </p:nvSpPr>
        <p:spPr>
          <a:xfrm>
            <a:off x="711200" y="828020"/>
            <a:ext cx="2286000" cy="451406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ru-RU" sz="1600" b="1" dirty="0">
                <a:solidFill>
                  <a:srgbClr val="8C5014"/>
                </a:solidFill>
                <a:latin typeface="Aptos"/>
              </a:rPr>
              <a:t>Фрагмент ТЗ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76B16-ED8A-456E-8063-F2A131137D6C}"/>
              </a:ext>
            </a:extLst>
          </p:cNvPr>
          <p:cNvSpPr txBox="1"/>
          <p:nvPr/>
        </p:nvSpPr>
        <p:spPr>
          <a:xfrm>
            <a:off x="711200" y="1218580"/>
            <a:ext cx="9144000" cy="1744067"/>
          </a:xfrm>
          <a:prstGeom prst="rect">
            <a:avLst/>
          </a:prstGeom>
          <a:solidFill>
            <a:srgbClr val="FFFAF1"/>
          </a:solidFill>
        </p:spPr>
        <p:txBody>
          <a:bodyPr vert="horz" lIns="101600" tIns="101600" rIns="101600" bIns="101600" rtlCol="0">
            <a:spAutoFit/>
          </a:bodyPr>
          <a:lstStyle/>
          <a:p>
            <a:r>
              <a:rPr lang="ru-RU" sz="2000" dirty="0">
                <a:solidFill>
                  <a:srgbClr val="232323"/>
                </a:solidFill>
                <a:latin typeface="Aptos"/>
              </a:rPr>
              <a:t>Задание 4:</a:t>
            </a:r>
          </a:p>
          <a:p>
            <a:r>
              <a:rPr lang="ru-RU" sz="2000" dirty="0">
                <a:solidFill>
                  <a:srgbClr val="232323"/>
                </a:solidFill>
                <a:latin typeface="Aptos"/>
              </a:rPr>
              <a:t>есть пример компонента с фабрикой классов в проекте </a:t>
            </a:r>
            <a:r>
              <a:rPr lang="ru-RU" sz="2000" dirty="0" err="1">
                <a:solidFill>
                  <a:srgbClr val="232323"/>
                </a:solidFill>
                <a:latin typeface="Aptos"/>
              </a:rPr>
              <a:t>plgEvalFRF</a:t>
            </a:r>
            <a:endParaRPr lang="ru-RU" sz="2000" dirty="0">
              <a:solidFill>
                <a:srgbClr val="232323"/>
              </a:solidFill>
              <a:latin typeface="Aptos"/>
            </a:endParaRPr>
          </a:p>
          <a:p>
            <a:r>
              <a:rPr lang="ru-RU" sz="2000" dirty="0">
                <a:solidFill>
                  <a:srgbClr val="232323"/>
                </a:solidFill>
                <a:latin typeface="Aptos"/>
              </a:rPr>
              <a:t>цель создать компонент для управления ЦАП в проекте </a:t>
            </a:r>
            <a:r>
              <a:rPr lang="ru-RU" sz="2000" dirty="0" err="1">
                <a:solidFill>
                  <a:srgbClr val="232323"/>
                </a:solidFill>
                <a:latin typeface="Aptos"/>
              </a:rPr>
              <a:t>plgControlCyclogram</a:t>
            </a:r>
            <a:endParaRPr lang="ru-RU" sz="2000" dirty="0">
              <a:solidFill>
                <a:srgbClr val="232323"/>
              </a:solidFill>
              <a:latin typeface="Aptos"/>
            </a:endParaRPr>
          </a:p>
          <a:p>
            <a:r>
              <a:rPr lang="ru-RU" sz="2000" dirty="0">
                <a:solidFill>
                  <a:srgbClr val="232323"/>
                </a:solidFill>
                <a:latin typeface="Aptos"/>
              </a:rPr>
              <a:t>пример управления ЦАП с алгоритмами есть в </a:t>
            </a:r>
            <a:r>
              <a:rPr lang="ru-RU" sz="2000" dirty="0" err="1">
                <a:solidFill>
                  <a:srgbClr val="232323"/>
                </a:solidFill>
                <a:latin typeface="Aptos"/>
              </a:rPr>
              <a:t>tests</a:t>
            </a:r>
            <a:r>
              <a:rPr lang="ru-RU" sz="2000" dirty="0">
                <a:solidFill>
                  <a:srgbClr val="232323"/>
                </a:solidFill>
                <a:latin typeface="Aptos"/>
              </a:rPr>
              <a:t>\</a:t>
            </a:r>
            <a:r>
              <a:rPr lang="ru-RU" sz="2000" dirty="0" err="1">
                <a:solidFill>
                  <a:srgbClr val="232323"/>
                </a:solidFill>
                <a:latin typeface="Aptos"/>
              </a:rPr>
              <a:t>TestDAC</a:t>
            </a:r>
            <a:endParaRPr lang="ru-RU" sz="2000" dirty="0">
              <a:solidFill>
                <a:srgbClr val="232323"/>
              </a:solidFill>
              <a:latin typeface="Aptos"/>
            </a:endParaRPr>
          </a:p>
          <a:p>
            <a:r>
              <a:rPr lang="ru-RU" sz="2000" dirty="0">
                <a:solidFill>
                  <a:srgbClr val="232323"/>
                </a:solidFill>
                <a:latin typeface="Aptos"/>
              </a:rPr>
              <a:t>…но надо теперь сделать именно компонент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4CEF2-D817-4DB1-B57E-F0A58A53D6B1}"/>
              </a:ext>
            </a:extLst>
          </p:cNvPr>
          <p:cNvSpPr txBox="1"/>
          <p:nvPr/>
        </p:nvSpPr>
        <p:spPr>
          <a:xfrm>
            <a:off x="221164" y="2981652"/>
            <a:ext cx="7086601" cy="1082348"/>
          </a:xfrm>
          <a:prstGeom prst="rect">
            <a:avLst/>
          </a:prstGeom>
          <a:solidFill>
            <a:srgbClr val="E7F0FF"/>
          </a:solidFill>
        </p:spPr>
        <p:txBody>
          <a:bodyPr vert="horz" wrap="square" lIns="101600" tIns="101600" rIns="101600" bIns="1016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1900" dirty="0">
                <a:solidFill>
                  <a:srgbClr val="282828"/>
                </a:solidFill>
                <a:latin typeface="Aptos"/>
              </a:rPr>
              <a:t>не просто форма, а компонент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>
                <a:solidFill>
                  <a:srgbClr val="282828"/>
                </a:solidFill>
                <a:latin typeface="Aptos"/>
              </a:rPr>
              <a:t>не просто сигнал, а встраивание в фабричную архитектуру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>
                <a:solidFill>
                  <a:srgbClr val="282828"/>
                </a:solidFill>
                <a:latin typeface="Aptos"/>
              </a:rPr>
              <a:t>не просто </a:t>
            </a:r>
            <a:r>
              <a:rPr lang="ru-RU" sz="1900" dirty="0" err="1">
                <a:solidFill>
                  <a:srgbClr val="282828"/>
                </a:solidFill>
                <a:latin typeface="Aptos"/>
              </a:rPr>
              <a:t>Sin</a:t>
            </a:r>
            <a:r>
              <a:rPr lang="ru-RU" sz="1900" dirty="0">
                <a:solidFill>
                  <a:srgbClr val="282828"/>
                </a:solidFill>
                <a:latin typeface="Aptos"/>
              </a:rPr>
              <a:t>, а целая линейка программ DAC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1A923-7D17-445E-BA86-2DFE1A1DA213}"/>
              </a:ext>
            </a:extLst>
          </p:cNvPr>
          <p:cNvSpPr txBox="1"/>
          <p:nvPr/>
        </p:nvSpPr>
        <p:spPr>
          <a:xfrm>
            <a:off x="340112" y="4193788"/>
            <a:ext cx="4572000" cy="1236236"/>
          </a:xfrm>
          <a:prstGeom prst="rect">
            <a:avLst/>
          </a:prstGeom>
          <a:solidFill>
            <a:srgbClr val="634EA9"/>
          </a:solidFill>
        </p:spPr>
        <p:txBody>
          <a:bodyPr vert="horz" lIns="177800" tIns="177800" rIns="177800" bIns="177800" rtlCol="0">
            <a:spAutoFit/>
          </a:bodyPr>
          <a:lstStyle/>
          <a:p>
            <a:r>
              <a:rPr lang="ru-RU" sz="1900">
                <a:solidFill>
                  <a:srgbClr val="FFFFFF"/>
                </a:solidFill>
                <a:latin typeface="Georgia" panose="02040502050405020303" pitchFamily="18" charset="0"/>
              </a:rPr>
              <a:t>"Когда в ТЗ написано «сделать компонент», форма уже не может жить как ей нравится."</a:t>
            </a:r>
          </a:p>
        </p:txBody>
      </p:sp>
    </p:spTree>
    <p:extLst>
      <p:ext uri="{BB962C8B-B14F-4D97-AF65-F5344CB8AC3E}">
        <p14:creationId xmlns:p14="http://schemas.microsoft.com/office/powerpoint/2010/main" val="250856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7E62D-91D6-4353-93CD-CDB2409945C3}"/>
              </a:ext>
            </a:extLst>
          </p:cNvPr>
          <p:cNvSpPr txBox="1"/>
          <p:nvPr/>
        </p:nvSpPr>
        <p:spPr>
          <a:xfrm>
            <a:off x="508000" y="304800"/>
            <a:ext cx="149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142542"/>
                </a:solidFill>
                <a:latin typeface="Aptos Display"/>
              </a:rPr>
              <a:t>2. Почему локальная правка не прокатывала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EE61D-0313-41CE-AEB2-A6129365B430}"/>
              </a:ext>
            </a:extLst>
          </p:cNvPr>
          <p:cNvSpPr txBox="1"/>
          <p:nvPr/>
        </p:nvSpPr>
        <p:spPr>
          <a:xfrm>
            <a:off x="685800" y="1143000"/>
            <a:ext cx="8890000" cy="943848"/>
          </a:xfrm>
          <a:prstGeom prst="rect">
            <a:avLst/>
          </a:prstGeom>
          <a:solidFill>
            <a:srgbClr val="9E463D"/>
          </a:solidFill>
        </p:spPr>
        <p:txBody>
          <a:bodyPr vert="horz" lIns="177800" tIns="177800" rIns="177800" bIns="177800" rtlCol="0">
            <a:spAutoFit/>
          </a:bodyPr>
          <a:lstStyle/>
          <a:p>
            <a:r>
              <a:rPr lang="ru-RU" sz="1900">
                <a:solidFill>
                  <a:srgbClr val="FFFFFF"/>
                </a:solidFill>
                <a:latin typeface="Georgia" panose="02040502050405020303" pitchFamily="18" charset="0"/>
              </a:rPr>
              <a:t>"Нашёл место, где форма ЦАП выбивается из общего ряда: её создают напрямую в uCreateComponents, без cRecBasicFactory."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7B8A1-C3C6-46F1-99A2-2E99CC532BFE}"/>
              </a:ext>
            </a:extLst>
          </p:cNvPr>
          <p:cNvSpPr txBox="1"/>
          <p:nvPr/>
        </p:nvSpPr>
        <p:spPr>
          <a:xfrm>
            <a:off x="268438" y="2139354"/>
            <a:ext cx="8382000" cy="1436291"/>
          </a:xfrm>
          <a:prstGeom prst="rect">
            <a:avLst/>
          </a:prstGeom>
          <a:solidFill>
            <a:srgbClr val="FFFAF6"/>
          </a:solidFill>
        </p:spPr>
        <p:txBody>
          <a:bodyPr vert="horz" lIns="101600" tIns="101600" rIns="101600" bIns="1016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логика была размазана между UI и генерацией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uDACFrm не была TRecFrm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создание формы шло напрямую, без фабрики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UI рисковал знать про сигнал больше, чем надо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A9BE4-A172-4FC8-9A31-8C5A9933A4EE}"/>
              </a:ext>
            </a:extLst>
          </p:cNvPr>
          <p:cNvSpPr txBox="1"/>
          <p:nvPr/>
        </p:nvSpPr>
        <p:spPr>
          <a:xfrm>
            <a:off x="268438" y="3760789"/>
            <a:ext cx="4572000" cy="1328569"/>
          </a:xfrm>
          <a:prstGeom prst="rect">
            <a:avLst/>
          </a:prstGeom>
          <a:solidFill>
            <a:srgbClr val="18548C"/>
          </a:solidFill>
        </p:spPr>
        <p:txBody>
          <a:bodyPr vert="horz" lIns="177800" tIns="177800" rIns="177800" bIns="177800" rtlCol="0">
            <a:spAutoFit/>
          </a:bodyPr>
          <a:lstStyle/>
          <a:p>
            <a:r>
              <a:rPr lang="ru-RU" sz="2100" dirty="0">
                <a:solidFill>
                  <a:srgbClr val="FFFFFF"/>
                </a:solidFill>
                <a:latin typeface="Georgia" panose="02040502050405020303" pitchFamily="18" charset="0"/>
              </a:rPr>
              <a:t>"Когда форма знает про сигнал всё, это уже не UI, а </a:t>
            </a:r>
            <a:r>
              <a:rPr lang="ru-RU" sz="2100" dirty="0" err="1">
                <a:solidFill>
                  <a:srgbClr val="FFFFFF"/>
                </a:solidFill>
                <a:latin typeface="Georgia" panose="02040502050405020303" pitchFamily="18" charset="0"/>
              </a:rPr>
              <a:t>микроменеджмент</a:t>
            </a:r>
            <a:r>
              <a:rPr lang="ru-RU" sz="2100" dirty="0">
                <a:solidFill>
                  <a:srgbClr val="FFFFFF"/>
                </a:solidFill>
                <a:latin typeface="Georgia" panose="02040502050405020303" pitchFamily="18" charset="0"/>
              </a:rPr>
              <a:t> с кнопками."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BF5E53-1A12-44DB-805D-184C077A28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800" y="3502322"/>
            <a:ext cx="3177452" cy="213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8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91EB5-53AF-4100-B00D-7CDAF43C7855}"/>
              </a:ext>
            </a:extLst>
          </p:cNvPr>
          <p:cNvSpPr txBox="1"/>
          <p:nvPr/>
        </p:nvSpPr>
        <p:spPr>
          <a:xfrm>
            <a:off x="508000" y="304800"/>
            <a:ext cx="149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142542"/>
                </a:solidFill>
                <a:latin typeface="Aptos Display"/>
              </a:rPr>
              <a:t>3. Архитектура решения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255596-76FD-41EF-A0B0-A721B36C73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9" y="828020"/>
            <a:ext cx="8176322" cy="4353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047565-B0F1-4C54-AFF7-C6D1C7E09512}"/>
              </a:ext>
            </a:extLst>
          </p:cNvPr>
          <p:cNvSpPr txBox="1"/>
          <p:nvPr/>
        </p:nvSpPr>
        <p:spPr>
          <a:xfrm>
            <a:off x="321733" y="2955270"/>
            <a:ext cx="3141133" cy="2575064"/>
          </a:xfrm>
          <a:prstGeom prst="rect">
            <a:avLst/>
          </a:prstGeom>
          <a:solidFill>
            <a:srgbClr val="EBF4FF"/>
          </a:solidFill>
        </p:spPr>
        <p:txBody>
          <a:bodyPr vert="horz" wrap="square" lIns="101600" tIns="101600" rIns="101600" bIns="10160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 err="1">
                <a:solidFill>
                  <a:srgbClr val="232323"/>
                </a:solidFill>
                <a:latin typeface="Aptos"/>
              </a:rPr>
              <a:t>TDacProgram</a:t>
            </a:r>
            <a:r>
              <a:rPr lang="en-US" sz="1400" dirty="0">
                <a:solidFill>
                  <a:srgbClr val="232323"/>
                </a:solidFill>
                <a:latin typeface="Aptos"/>
              </a:rPr>
              <a:t> — </a:t>
            </a:r>
            <a:r>
              <a:rPr lang="ru-RU" sz="1400" dirty="0">
                <a:solidFill>
                  <a:srgbClr val="232323"/>
                </a:solidFill>
                <a:latin typeface="Aptos"/>
              </a:rPr>
              <a:t>базовая абстракция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err="1">
                <a:solidFill>
                  <a:srgbClr val="232323"/>
                </a:solidFill>
                <a:latin typeface="Aptos"/>
              </a:rPr>
              <a:t>TSimpleSinusProgram</a:t>
            </a:r>
            <a:r>
              <a:rPr lang="en-US" sz="1400" dirty="0">
                <a:solidFill>
                  <a:srgbClr val="232323"/>
                </a:solidFill>
                <a:latin typeface="Aptos"/>
              </a:rPr>
              <a:t> — </a:t>
            </a:r>
            <a:r>
              <a:rPr lang="ru-RU" sz="1400" dirty="0">
                <a:solidFill>
                  <a:srgbClr val="232323"/>
                </a:solidFill>
                <a:latin typeface="Aptos"/>
              </a:rPr>
              <a:t>простой синус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err="1">
                <a:solidFill>
                  <a:srgbClr val="232323"/>
                </a:solidFill>
                <a:latin typeface="Aptos"/>
              </a:rPr>
              <a:t>TAccurateSinusProgram</a:t>
            </a:r>
            <a:r>
              <a:rPr lang="en-US" sz="1400" dirty="0">
                <a:solidFill>
                  <a:srgbClr val="232323"/>
                </a:solidFill>
                <a:latin typeface="Aptos"/>
              </a:rPr>
              <a:t> — </a:t>
            </a:r>
            <a:r>
              <a:rPr lang="ru-RU" sz="1400" dirty="0">
                <a:solidFill>
                  <a:srgbClr val="232323"/>
                </a:solidFill>
                <a:latin typeface="Aptos"/>
              </a:rPr>
              <a:t>синус с выравниванием буфера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err="1">
                <a:solidFill>
                  <a:srgbClr val="232323"/>
                </a:solidFill>
                <a:latin typeface="Aptos"/>
              </a:rPr>
              <a:t>TSweepSinProgram</a:t>
            </a:r>
            <a:r>
              <a:rPr lang="en-US" sz="1400" dirty="0">
                <a:solidFill>
                  <a:srgbClr val="232323"/>
                </a:solidFill>
                <a:latin typeface="Aptos"/>
              </a:rPr>
              <a:t> — sweep </a:t>
            </a:r>
            <a:r>
              <a:rPr lang="ru-RU" sz="1400" dirty="0">
                <a:solidFill>
                  <a:srgbClr val="232323"/>
                </a:solidFill>
                <a:latin typeface="Aptos"/>
              </a:rPr>
              <a:t>по частоте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solidFill>
                  <a:srgbClr val="232323"/>
                </a:solidFill>
                <a:latin typeface="Aptos"/>
              </a:rPr>
              <a:t>форма только выбирает программу и настраивает параметры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0CBCA-2B5B-45E5-ACC8-0E34FA1698C8}"/>
              </a:ext>
            </a:extLst>
          </p:cNvPr>
          <p:cNvSpPr txBox="1"/>
          <p:nvPr/>
        </p:nvSpPr>
        <p:spPr>
          <a:xfrm>
            <a:off x="6071117" y="4186376"/>
            <a:ext cx="2962816" cy="1343958"/>
          </a:xfrm>
          <a:prstGeom prst="rect">
            <a:avLst/>
          </a:prstGeom>
          <a:solidFill>
            <a:srgbClr val="206FB2"/>
          </a:solidFill>
        </p:spPr>
        <p:txBody>
          <a:bodyPr vert="horz" wrap="square" lIns="177800" tIns="177800" rIns="177800" bIns="177800" rtlCol="0">
            <a:spAutoFit/>
          </a:bodyPr>
          <a:lstStyle/>
          <a:p>
            <a:r>
              <a:rPr lang="ru-RU" sz="1600" dirty="0">
                <a:solidFill>
                  <a:srgbClr val="FFFFFF"/>
                </a:solidFill>
                <a:latin typeface="Georgia" panose="02040502050405020303" pitchFamily="18" charset="0"/>
              </a:rPr>
              <a:t>"Формы теперь выбирают активную программу, а не генерируют звук внутри UI."</a:t>
            </a:r>
          </a:p>
        </p:txBody>
      </p:sp>
    </p:spTree>
    <p:extLst>
      <p:ext uri="{BB962C8B-B14F-4D97-AF65-F5344CB8AC3E}">
        <p14:creationId xmlns:p14="http://schemas.microsoft.com/office/powerpoint/2010/main" val="18765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7971D-EA9A-4A51-B0E1-F0EEA59B1791}"/>
              </a:ext>
            </a:extLst>
          </p:cNvPr>
          <p:cNvSpPr txBox="1"/>
          <p:nvPr/>
        </p:nvSpPr>
        <p:spPr>
          <a:xfrm>
            <a:off x="508000" y="304800"/>
            <a:ext cx="149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142542"/>
                </a:solidFill>
                <a:latin typeface="Aptos Display"/>
              </a:rPr>
              <a:t>4. Пример кода: базовая программа DAC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6F13B-42F0-4718-A25D-F845ACE39D58}"/>
              </a:ext>
            </a:extLst>
          </p:cNvPr>
          <p:cNvSpPr txBox="1"/>
          <p:nvPr/>
        </p:nvSpPr>
        <p:spPr>
          <a:xfrm>
            <a:off x="711200" y="1079500"/>
            <a:ext cx="1778000" cy="451406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ru-RU" sz="1600" b="1">
                <a:solidFill>
                  <a:srgbClr val="884C1C"/>
                </a:solidFill>
                <a:latin typeface="Aptos"/>
              </a:rPr>
              <a:t>Рассуждение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BF7BE-0EFB-4E3B-BD49-5239BAC4DAFD}"/>
              </a:ext>
            </a:extLst>
          </p:cNvPr>
          <p:cNvSpPr txBox="1"/>
          <p:nvPr/>
        </p:nvSpPr>
        <p:spPr>
          <a:xfrm>
            <a:off x="711200" y="1460500"/>
            <a:ext cx="6604000" cy="759182"/>
          </a:xfrm>
          <a:prstGeom prst="rect">
            <a:avLst/>
          </a:prstGeom>
          <a:solidFill>
            <a:srgbClr val="FFFCF6"/>
          </a:solidFill>
        </p:spPr>
        <p:txBody>
          <a:bodyPr vert="horz" lIns="101600" tIns="101600" rIns="101600" bIns="101600" rtlCol="0">
            <a:spAutoFit/>
          </a:bodyPr>
          <a:lstStyle/>
          <a:p>
            <a:r>
              <a:rPr lang="ru-RU" sz="1800" dirty="0">
                <a:solidFill>
                  <a:srgbClr val="282828"/>
                </a:solidFill>
                <a:latin typeface="Aptos"/>
              </a:rPr>
              <a:t>Сначала выносим общую механику: </a:t>
            </a:r>
            <a:r>
              <a:rPr lang="ru-RU" sz="1800" dirty="0" err="1">
                <a:solidFill>
                  <a:srgbClr val="282828"/>
                </a:solidFill>
                <a:latin typeface="Aptos"/>
              </a:rPr>
              <a:t>transport</a:t>
            </a:r>
            <a:r>
              <a:rPr lang="ru-RU" sz="1800" dirty="0">
                <a:solidFill>
                  <a:srgbClr val="282828"/>
                </a:solidFill>
                <a:latin typeface="Aptos"/>
              </a:rPr>
              <a:t>, </a:t>
            </a:r>
            <a:r>
              <a:rPr lang="ru-RU" sz="1800" dirty="0" err="1">
                <a:solidFill>
                  <a:srgbClr val="282828"/>
                </a:solidFill>
                <a:latin typeface="Aptos"/>
              </a:rPr>
              <a:t>bind</a:t>
            </a:r>
            <a:r>
              <a:rPr lang="ru-RU" sz="1800" dirty="0">
                <a:solidFill>
                  <a:srgbClr val="282828"/>
                </a:solidFill>
                <a:latin typeface="Aptos"/>
              </a:rPr>
              <a:t> к устройству, старт, </a:t>
            </a:r>
            <a:r>
              <a:rPr lang="ru-RU" sz="1800" dirty="0" err="1">
                <a:solidFill>
                  <a:srgbClr val="282828"/>
                </a:solidFill>
                <a:latin typeface="Aptos"/>
              </a:rPr>
              <a:t>stop</a:t>
            </a:r>
            <a:r>
              <a:rPr lang="ru-RU" sz="1800" dirty="0">
                <a:solidFill>
                  <a:srgbClr val="282828"/>
                </a:solidFill>
                <a:latin typeface="Aptos"/>
              </a:rPr>
              <a:t>, фазу и точку расширения через </a:t>
            </a:r>
            <a:r>
              <a:rPr lang="ru-RU" sz="1800" dirty="0" err="1">
                <a:solidFill>
                  <a:srgbClr val="282828"/>
                </a:solidFill>
                <a:latin typeface="Aptos"/>
              </a:rPr>
              <a:t>ProcessBuffer</a:t>
            </a:r>
            <a:r>
              <a:rPr lang="ru-RU" sz="1800" dirty="0">
                <a:solidFill>
                  <a:srgbClr val="282828"/>
                </a:solidFill>
                <a:latin typeface="Apto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9BCAF-39B7-4358-B737-331AFC4D43A0}"/>
              </a:ext>
            </a:extLst>
          </p:cNvPr>
          <p:cNvSpPr txBox="1"/>
          <p:nvPr/>
        </p:nvSpPr>
        <p:spPr>
          <a:xfrm>
            <a:off x="5934510" y="3176865"/>
            <a:ext cx="2959233" cy="2087751"/>
          </a:xfrm>
          <a:prstGeom prst="rect">
            <a:avLst/>
          </a:prstGeom>
          <a:solidFill>
            <a:srgbClr val="171E2B"/>
          </a:solidFill>
        </p:spPr>
        <p:txBody>
          <a:bodyPr vert="horz" wrap="square" lIns="127000" tIns="127000" rIns="127000" bIns="127000" rtlCol="0">
            <a:spAutoFit/>
          </a:bodyPr>
          <a:lstStyle/>
          <a:p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procedure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TDacProgram.Start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(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ALoopCount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: Cardinal);
begin
  if not Assigned(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) then Exit;
  if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fDevice.IsPlay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 then Exit;
  if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fDevice.State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 =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stClosed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 then
  begin
   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ApplyTransportToDevice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;
   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fDevice.Open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;
  end;
 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fDevice.OnGenerateData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 :=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OnGenData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;
 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fActive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 := True;
 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DoPrepareAfterSubscribeBeforeDeviceStart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;
 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fCurrentPhase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 := 0;
  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fDevice.Start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(</a:t>
            </a:r>
            <a:r>
              <a:rPr lang="en-US" sz="700" dirty="0" err="1">
                <a:solidFill>
                  <a:srgbClr val="E6F0FA"/>
                </a:solidFill>
                <a:latin typeface="Consolas" panose="020B0609020204030204" pitchFamily="49" charset="0"/>
              </a:rPr>
              <a:t>ALoopCount</a:t>
            </a:r>
            <a:r>
              <a:rPr lang="en-US" sz="700" dirty="0">
                <a:solidFill>
                  <a:srgbClr val="E6F0FA"/>
                </a:solidFill>
                <a:latin typeface="Consolas" panose="020B0609020204030204" pitchFamily="49" charset="0"/>
              </a:rPr>
              <a:t>);
end;</a:t>
            </a:r>
            <a:endParaRPr lang="ru-RU" sz="700" dirty="0">
              <a:solidFill>
                <a:srgbClr val="E6F0FA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34321-17E6-46E6-B84E-271D0A112D54}"/>
              </a:ext>
            </a:extLst>
          </p:cNvPr>
          <p:cNvSpPr txBox="1"/>
          <p:nvPr/>
        </p:nvSpPr>
        <p:spPr>
          <a:xfrm>
            <a:off x="508000" y="2364849"/>
            <a:ext cx="6604000" cy="666849"/>
          </a:xfrm>
          <a:prstGeom prst="rect">
            <a:avLst/>
          </a:prstGeom>
          <a:solidFill>
            <a:srgbClr val="C57529"/>
          </a:solidFill>
        </p:spPr>
        <p:txBody>
          <a:bodyPr vert="horz" wrap="square" lIns="177800" tIns="177800" rIns="177800" bIns="177800" rtlCol="0">
            <a:spAutoFit/>
          </a:bodyPr>
          <a:lstStyle/>
          <a:p>
            <a:r>
              <a:rPr lang="ru-RU" sz="2000" dirty="0">
                <a:solidFill>
                  <a:srgbClr val="FFFFFF"/>
                </a:solidFill>
                <a:latin typeface="Georgia" panose="02040502050405020303" pitchFamily="18" charset="0"/>
              </a:rPr>
              <a:t>"Оставил </a:t>
            </a:r>
            <a:r>
              <a:rPr lang="ru-RU" sz="2000" dirty="0" err="1">
                <a:solidFill>
                  <a:srgbClr val="FFFFFF"/>
                </a:solidFill>
                <a:latin typeface="Georgia" panose="02040502050405020303" pitchFamily="18" charset="0"/>
              </a:rPr>
              <a:t>SweepSin</a:t>
            </a:r>
            <a:r>
              <a:rPr lang="ru-RU" sz="2000" dirty="0">
                <a:solidFill>
                  <a:srgbClr val="FFFFFF"/>
                </a:solidFill>
                <a:latin typeface="Georgia" panose="02040502050405020303" pitchFamily="18" charset="0"/>
              </a:rPr>
              <a:t> как отдельную программу DAC."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1B88BF-4685-49A1-9F2E-548091E7EEBF}"/>
              </a:ext>
            </a:extLst>
          </p:cNvPr>
          <p:cNvSpPr txBox="1"/>
          <p:nvPr/>
        </p:nvSpPr>
        <p:spPr>
          <a:xfrm>
            <a:off x="355600" y="3176865"/>
            <a:ext cx="5342556" cy="1985159"/>
          </a:xfrm>
          <a:prstGeom prst="rect">
            <a:avLst/>
          </a:prstGeom>
          <a:solidFill>
            <a:srgbClr val="171E2B"/>
          </a:solidFill>
        </p:spPr>
        <p:txBody>
          <a:bodyPr vert="horz" wrap="square" lIns="127000" tIns="127000" rIns="127000" bIns="127000" rtlCol="0">
            <a:spAutoFit/>
          </a:bodyPr>
          <a:lstStyle/>
          <a:p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procedure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TDacProgram.OnGenData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(data: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TObject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);
begin
 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lBlockData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fDevice.BlockQueue.GetPushBlock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;
 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lBlock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PSoundCardBlock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lBlockData.Data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);
 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lDataPtr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 := @lBlock.Samples[0];
 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ProcessBuffer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lDataPtr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fDevice.BufferSize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);
  </a:t>
            </a:r>
            <a:r>
              <a:rPr lang="en-US" sz="1400" dirty="0" err="1">
                <a:solidFill>
                  <a:srgbClr val="E6F0FA"/>
                </a:solidFill>
                <a:latin typeface="Consolas" panose="020B0609020204030204" pitchFamily="49" charset="0"/>
              </a:rPr>
              <a:t>fDevice.QueueBuffer</a:t>
            </a:r>
            <a:r>
              <a:rPr lang="en-US" sz="1400" dirty="0">
                <a:solidFill>
                  <a:srgbClr val="E6F0FA"/>
                </a:solidFill>
                <a:latin typeface="Consolas" panose="020B0609020204030204" pitchFamily="49" charset="0"/>
              </a:rPr>
              <a:t>;
end;</a:t>
            </a:r>
            <a:endParaRPr lang="ru-RU" sz="1400" dirty="0">
              <a:solidFill>
                <a:srgbClr val="E6F0F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26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922E13-6CA8-4195-9D4F-C24875636EE3}"/>
              </a:ext>
            </a:extLst>
          </p:cNvPr>
          <p:cNvSpPr txBox="1"/>
          <p:nvPr/>
        </p:nvSpPr>
        <p:spPr>
          <a:xfrm>
            <a:off x="508000" y="304800"/>
            <a:ext cx="149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142542"/>
                </a:solidFill>
                <a:latin typeface="Aptos Display"/>
              </a:rPr>
              <a:t>5. SweepSin: отдельная программа, а не ветка UI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84D6AF-F3E6-4D28-B5E9-985F807912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954238"/>
            <a:ext cx="4397141" cy="26744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F8BB4-64CA-4A00-900C-B1BABF5E043A}"/>
              </a:ext>
            </a:extLst>
          </p:cNvPr>
          <p:cNvSpPr txBox="1"/>
          <p:nvPr/>
        </p:nvSpPr>
        <p:spPr>
          <a:xfrm>
            <a:off x="5234806" y="1050491"/>
            <a:ext cx="3601186" cy="2287806"/>
          </a:xfrm>
          <a:prstGeom prst="rect">
            <a:avLst/>
          </a:prstGeom>
          <a:solidFill>
            <a:srgbClr val="171E2B"/>
          </a:solidFill>
        </p:spPr>
        <p:txBody>
          <a:bodyPr vert="horz" wrap="square" lIns="127000" tIns="127000" rIns="127000" bIns="127000" rtlCol="0">
            <a:spAutoFit/>
          </a:bodyPr>
          <a:lstStyle/>
          <a:p>
            <a:r>
              <a:rPr lang="en-US" sz="1100">
                <a:solidFill>
                  <a:srgbClr val="E6F0FA"/>
                </a:solidFill>
                <a:latin typeface="Consolas" panose="020B0609020204030204" pitchFamily="49" charset="0"/>
              </a:rPr>
              <a:t>if fSweepTimeSec &gt; 0 then
begin
  lTimeSec := fElapsedSamples / lRate;
  lK := lTimeSec / fSweepTimeSec;
  if lK &gt; 1 then
    lK := 1;
  lFreq := fStartFrequency +
    (fEndFrequency - fStartFrequency) * lK;
end;
fCurrentPhase := fCurrentPhase +
  2 * Pi * lFreq / lRate;</a:t>
            </a:r>
            <a:endParaRPr lang="ru-RU" sz="1100">
              <a:solidFill>
                <a:srgbClr val="E6F0FA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81027-5644-4DCE-B2F1-66283DE3DAAE}"/>
              </a:ext>
            </a:extLst>
          </p:cNvPr>
          <p:cNvSpPr txBox="1"/>
          <p:nvPr/>
        </p:nvSpPr>
        <p:spPr>
          <a:xfrm>
            <a:off x="588745" y="4001580"/>
            <a:ext cx="8641882" cy="759182"/>
          </a:xfrm>
          <a:prstGeom prst="rect">
            <a:avLst/>
          </a:prstGeom>
          <a:solidFill>
            <a:srgbClr val="ECF5FF"/>
          </a:solidFill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ru-RU" sz="1800" dirty="0">
                <a:solidFill>
                  <a:srgbClr val="282828"/>
                </a:solidFill>
                <a:latin typeface="Aptos"/>
              </a:rPr>
              <a:t>Здесь важное инженерное решение: </a:t>
            </a:r>
            <a:r>
              <a:rPr lang="ru-RU" sz="1800" dirty="0" err="1">
                <a:solidFill>
                  <a:srgbClr val="282828"/>
                </a:solidFill>
                <a:latin typeface="Aptos"/>
              </a:rPr>
              <a:t>sweep</a:t>
            </a:r>
            <a:r>
              <a:rPr lang="ru-RU" sz="1800" dirty="0">
                <a:solidFill>
                  <a:srgbClr val="282828"/>
                </a:solidFill>
                <a:latin typeface="Aptos"/>
              </a:rPr>
              <a:t> описан как самостоятельный режим генерации. UI передаёт параметры, а не считает частоту за устройство.</a:t>
            </a:r>
          </a:p>
        </p:txBody>
      </p:sp>
    </p:spTree>
    <p:extLst>
      <p:ext uri="{BB962C8B-B14F-4D97-AF65-F5344CB8AC3E}">
        <p14:creationId xmlns:p14="http://schemas.microsoft.com/office/powerpoint/2010/main" val="386261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C5CD59-70D6-422E-8CE7-4B432C4BAC6A}"/>
              </a:ext>
            </a:extLst>
          </p:cNvPr>
          <p:cNvSpPr txBox="1"/>
          <p:nvPr/>
        </p:nvSpPr>
        <p:spPr>
          <a:xfrm>
            <a:off x="508000" y="304800"/>
            <a:ext cx="149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142542"/>
                </a:solidFill>
                <a:latin typeface="Aptos Display"/>
              </a:rPr>
              <a:t>7. Что пришлось чинить кроме функциональности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2A3960-7793-4033-A35F-E29AAA428FB9}"/>
              </a:ext>
            </a:extLst>
          </p:cNvPr>
          <p:cNvSpPr txBox="1"/>
          <p:nvPr/>
        </p:nvSpPr>
        <p:spPr>
          <a:xfrm>
            <a:off x="762000" y="1397000"/>
            <a:ext cx="5461000" cy="1744067"/>
          </a:xfrm>
          <a:prstGeom prst="rect">
            <a:avLst/>
          </a:prstGeom>
          <a:solidFill>
            <a:srgbClr val="FFFFFF"/>
          </a:solidFill>
        </p:spPr>
        <p:txBody>
          <a:bodyPr vert="horz" lIns="101600" tIns="101600" rIns="101600" bIns="1016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Windows-1251 для Delphi-файлов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синхронизацию .pas и .dfm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восстановление русских комментариев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склейки строк после перекодировки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232323"/>
                </a:solidFill>
                <a:latin typeface="Aptos"/>
              </a:rPr>
              <a:t>нормализацию структуры формы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1BF30-1BB8-462A-8A7E-959D58FDF065}"/>
              </a:ext>
            </a:extLst>
          </p:cNvPr>
          <p:cNvSpPr txBox="1"/>
          <p:nvPr/>
        </p:nvSpPr>
        <p:spPr>
          <a:xfrm>
            <a:off x="508000" y="3343374"/>
            <a:ext cx="5334000" cy="974626"/>
          </a:xfrm>
          <a:prstGeom prst="rect">
            <a:avLst/>
          </a:prstGeom>
          <a:solidFill>
            <a:srgbClr val="18548C"/>
          </a:solidFill>
        </p:spPr>
        <p:txBody>
          <a:bodyPr vert="horz" lIns="177800" tIns="177800" rIns="177800" bIns="177800" rtlCol="0">
            <a:spAutoFit/>
          </a:bodyPr>
          <a:lstStyle/>
          <a:p>
            <a:r>
              <a:rPr lang="ru-RU" sz="2000" dirty="0">
                <a:solidFill>
                  <a:srgbClr val="FFFFFF"/>
                </a:solidFill>
                <a:latin typeface="Georgia" panose="02040502050405020303" pitchFamily="18" charset="0"/>
              </a:rPr>
              <a:t>"Да, была ошибка с перекодировкой. Исправил."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C4026D3-FCAB-4BB8-85FA-53C87AD79340}"/>
              </a:ext>
            </a:extLst>
          </p:cNvPr>
          <p:cNvSpPr/>
          <p:nvPr/>
        </p:nvSpPr>
        <p:spPr>
          <a:xfrm>
            <a:off x="381000" y="4653012"/>
            <a:ext cx="1778000" cy="621632"/>
          </a:xfrm>
          <a:prstGeom prst="rect">
            <a:avLst/>
          </a:prstGeom>
          <a:solidFill>
            <a:srgbClr val="C575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 Display"/>
              </a:rPr>
              <a:t>cp1251</a:t>
            </a:r>
            <a:endParaRPr lang="ru-RU" sz="18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97438D5-D15B-4D93-A1FE-E9E0F2313CCE}"/>
              </a:ext>
            </a:extLst>
          </p:cNvPr>
          <p:cNvSpPr/>
          <p:nvPr/>
        </p:nvSpPr>
        <p:spPr>
          <a:xfrm>
            <a:off x="2413000" y="4653012"/>
            <a:ext cx="1778000" cy="621632"/>
          </a:xfrm>
          <a:prstGeom prst="rect">
            <a:avLst/>
          </a:prstGeom>
          <a:solidFill>
            <a:srgbClr val="C575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 Display"/>
              </a:rPr>
              <a:t>PAS/DFM sync</a:t>
            </a:r>
            <a:endParaRPr lang="ru-RU" sz="18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AA1536-49F4-4785-843A-8EF0056DB130}"/>
              </a:ext>
            </a:extLst>
          </p:cNvPr>
          <p:cNvSpPr/>
          <p:nvPr/>
        </p:nvSpPr>
        <p:spPr>
          <a:xfrm>
            <a:off x="4445000" y="4653012"/>
            <a:ext cx="1778000" cy="621632"/>
          </a:xfrm>
          <a:prstGeom prst="rect">
            <a:avLst/>
          </a:prstGeom>
          <a:solidFill>
            <a:srgbClr val="C575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 Display"/>
              </a:rPr>
              <a:t>comments restored</a:t>
            </a:r>
            <a:endParaRPr lang="ru-RU" sz="1800" b="1" dirty="0">
              <a:solidFill>
                <a:srgbClr val="FFFFFF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787507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BDB1A-62C2-4AE3-AA77-1292774148B0}"/>
              </a:ext>
            </a:extLst>
          </p:cNvPr>
          <p:cNvSpPr txBox="1"/>
          <p:nvPr/>
        </p:nvSpPr>
        <p:spPr>
          <a:xfrm>
            <a:off x="635000" y="508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>
                <a:solidFill>
                  <a:srgbClr val="FFFFFF"/>
                </a:solidFill>
                <a:latin typeface="Aptos Display"/>
              </a:rPr>
              <a:t>8. Результат для инженерной команды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F9E53-56A8-4D0E-916F-644064C49E4A}"/>
              </a:ext>
            </a:extLst>
          </p:cNvPr>
          <p:cNvSpPr txBox="1"/>
          <p:nvPr/>
        </p:nvSpPr>
        <p:spPr>
          <a:xfrm>
            <a:off x="244108" y="282436"/>
            <a:ext cx="6604000" cy="2575064"/>
          </a:xfrm>
          <a:prstGeom prst="rect">
            <a:avLst/>
          </a:prstGeom>
          <a:solidFill>
            <a:srgbClr val="202939"/>
          </a:solidFill>
        </p:spPr>
        <p:txBody>
          <a:bodyPr vert="horz" lIns="101600" tIns="101600" rIns="101600" bIns="1016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200" dirty="0">
                <a:solidFill>
                  <a:srgbClr val="F0F0F0"/>
                </a:solidFill>
                <a:latin typeface="Aptos"/>
              </a:rPr>
              <a:t>логика генерации вынесена из UI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err="1">
                <a:solidFill>
                  <a:srgbClr val="F0F0F0"/>
                </a:solidFill>
                <a:latin typeface="Aptos"/>
              </a:rPr>
              <a:t>SweepSin</a:t>
            </a:r>
            <a:r>
              <a:rPr lang="ru-RU" sz="2200" dirty="0">
                <a:solidFill>
                  <a:srgbClr val="F0F0F0"/>
                </a:solidFill>
                <a:latin typeface="Aptos"/>
              </a:rPr>
              <a:t> реализован как самостоятельный режим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>
                <a:solidFill>
                  <a:srgbClr val="F0F0F0"/>
                </a:solidFill>
                <a:latin typeface="Aptos"/>
              </a:rPr>
              <a:t>форма встроена в инфраструктуру </a:t>
            </a:r>
            <a:r>
              <a:rPr lang="ru-RU" sz="2200" dirty="0" err="1">
                <a:solidFill>
                  <a:srgbClr val="F0F0F0"/>
                </a:solidFill>
                <a:latin typeface="Aptos"/>
              </a:rPr>
              <a:t>plgControlCyclogram</a:t>
            </a:r>
            <a:endParaRPr lang="ru-RU" sz="2200" dirty="0">
              <a:solidFill>
                <a:srgbClr val="F0F0F0"/>
              </a:solidFill>
              <a:latin typeface="Aptos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200" dirty="0" err="1">
                <a:solidFill>
                  <a:srgbClr val="F0F0F0"/>
                </a:solidFill>
                <a:latin typeface="Aptos"/>
              </a:rPr>
              <a:t>TRecFrm</a:t>
            </a:r>
            <a:r>
              <a:rPr lang="ru-RU" sz="2200" dirty="0">
                <a:solidFill>
                  <a:srgbClr val="F0F0F0"/>
                </a:solidFill>
                <a:latin typeface="Aptos"/>
              </a:rPr>
              <a:t> + фабрика вместо разового окна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>
                <a:solidFill>
                  <a:srgbClr val="F0F0F0"/>
                </a:solidFill>
                <a:latin typeface="Aptos"/>
              </a:rPr>
              <a:t>компонент готов к дальнейшему расширению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A3251-73C6-4C3C-8EA5-4980A707E3B5}"/>
              </a:ext>
            </a:extLst>
          </p:cNvPr>
          <p:cNvSpPr txBox="1"/>
          <p:nvPr/>
        </p:nvSpPr>
        <p:spPr>
          <a:xfrm>
            <a:off x="6243320" y="820425"/>
            <a:ext cx="2765927" cy="1467068"/>
          </a:xfrm>
          <a:prstGeom prst="rect">
            <a:avLst/>
          </a:prstGeom>
          <a:solidFill>
            <a:srgbClr val="C57529"/>
          </a:solidFill>
        </p:spPr>
        <p:txBody>
          <a:bodyPr vert="horz" wrap="square" lIns="177800" tIns="177800" rIns="177800" bIns="177800" rtlCol="0">
            <a:spAutoFit/>
          </a:bodyPr>
          <a:lstStyle/>
          <a:p>
            <a:r>
              <a:rPr lang="ru-RU" sz="1800" dirty="0">
                <a:solidFill>
                  <a:srgbClr val="FFFFFF"/>
                </a:solidFill>
                <a:latin typeface="Georgia" panose="02040502050405020303" pitchFamily="18" charset="0"/>
              </a:rPr>
              <a:t>"ЦАП перестал быть экспериментальной формой и стал частью системы."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CD8AB-08D9-4D4B-B735-C93CDCD22A23}"/>
              </a:ext>
            </a:extLst>
          </p:cNvPr>
          <p:cNvSpPr txBox="1"/>
          <p:nvPr/>
        </p:nvSpPr>
        <p:spPr>
          <a:xfrm>
            <a:off x="1247809" y="3349461"/>
            <a:ext cx="5969000" cy="1313180"/>
          </a:xfrm>
          <a:prstGeom prst="rect">
            <a:avLst/>
          </a:prstGeom>
          <a:solidFill>
            <a:srgbClr val="283D57"/>
          </a:solidFill>
        </p:spPr>
        <p:txBody>
          <a:bodyPr vert="horz" lIns="101600" tIns="101600" rIns="101600" bIns="101600" rtlCol="0">
            <a:spAutoFit/>
          </a:bodyPr>
          <a:lstStyle/>
          <a:p>
            <a:r>
              <a:rPr lang="ru-RU" sz="2400" dirty="0">
                <a:solidFill>
                  <a:srgbClr val="DCE8F0"/>
                </a:solidFill>
                <a:latin typeface="Aptos"/>
              </a:rPr>
              <a:t>Финальная мысль</a:t>
            </a:r>
          </a:p>
          <a:p>
            <a:r>
              <a:rPr lang="ru-RU" sz="2400" dirty="0">
                <a:solidFill>
                  <a:srgbClr val="DCE8F0"/>
                </a:solidFill>
                <a:latin typeface="Aptos"/>
              </a:rPr>
              <a:t>Мы не просто дописали режим. Мы собрали расширяемый компонент.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A4894-17AC-41B5-A4C9-DF1C1665C886}"/>
              </a:ext>
            </a:extLst>
          </p:cNvPr>
          <p:cNvSpPr txBox="1"/>
          <p:nvPr/>
        </p:nvSpPr>
        <p:spPr>
          <a:xfrm>
            <a:off x="8255000" y="5842000"/>
            <a:ext cx="5969000" cy="1128514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ru-RU" sz="2000">
                <a:solidFill>
                  <a:srgbClr val="FFFFFF"/>
                </a:solidFill>
                <a:latin typeface="Aptos"/>
              </a:rPr>
              <a:t>Авторская ремарка</a:t>
            </a:r>
          </a:p>
          <a:p>
            <a:r>
              <a:rPr lang="ru-RU" sz="2000">
                <a:solidFill>
                  <a:srgbClr val="FFFFFF"/>
                </a:solidFill>
                <a:latin typeface="Aptos"/>
              </a:rPr>
              <a:t>Устройство заиграло, а форма наконец замолчала по делу.</a:t>
            </a:r>
          </a:p>
        </p:txBody>
      </p:sp>
    </p:spTree>
    <p:extLst>
      <p:ext uri="{BB962C8B-B14F-4D97-AF65-F5344CB8AC3E}">
        <p14:creationId xmlns:p14="http://schemas.microsoft.com/office/powerpoint/2010/main" val="18629103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659</Words>
  <Application>Microsoft Office PowerPoint</Application>
  <PresentationFormat>Экран (16:10)</PresentationFormat>
  <Paragraphs>59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Consolas</vt:lpstr>
      <vt:lpstr>Georgia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Oburec Oburec</dc:creator>
  <cp:lastModifiedBy>Oburec Oburec</cp:lastModifiedBy>
  <cp:revision>3</cp:revision>
  <dcterms:created xsi:type="dcterms:W3CDTF">2026-03-26T18:47:26Z</dcterms:created>
  <dcterms:modified xsi:type="dcterms:W3CDTF">2026-03-26T18:56:54Z</dcterms:modified>
</cp:coreProperties>
</file>